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SEMICON INDIA HACKATHON 2026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Team AIvengers — PS01 Idea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66"/>
                </a:solidFill>
              </a:defRPr>
            </a:pPr>
            <a:r>
              <a:t>Institution: Vellore Institute of Technology, Vellore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2560320" cy="3291840"/>
          </a:xfrm>
          <a:prstGeom prst="roundRect">
            <a:avLst/>
          </a:prstGeom>
          <a:solidFill>
            <a:srgbClr val="171923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Tiyas Das</a:t>
            </a:r>
          </a:p>
          <a:p>
            <a:pPr>
              <a:defRPr sz="1200" b="1">
                <a:solidFill>
                  <a:srgbClr val="00F0FF"/>
                </a:solidFill>
              </a:defRPr>
            </a:pPr>
            <a:r>
              <a:t>Team Leader &amp; ML/AI Lead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Architecture Design &amp; Loss Refinement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651760"/>
            <a:ext cx="2560320" cy="3291840"/>
          </a:xfrm>
          <a:prstGeom prst="roundRect">
            <a:avLst/>
          </a:prstGeom>
          <a:solidFill>
            <a:srgbClr val="171923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Soumen Mondal</a:t>
            </a:r>
          </a:p>
          <a:p>
            <a:pPr>
              <a:defRPr sz="1200" b="1">
                <a:solidFill>
                  <a:srgbClr val="00F0FF"/>
                </a:solidFill>
              </a:defRPr>
            </a:pPr>
            <a:r>
              <a:t>Model Training Engineer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EDSR2x Model Development &amp;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651760"/>
            <a:ext cx="2560320" cy="3291840"/>
          </a:xfrm>
          <a:prstGeom prst="roundRect">
            <a:avLst/>
          </a:prstGeom>
          <a:solidFill>
            <a:srgbClr val="171923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Partha Protim Mondal</a:t>
            </a:r>
          </a:p>
          <a:p>
            <a:pPr>
              <a:defRPr sz="1200" b="1">
                <a:solidFill>
                  <a:srgbClr val="00F0FF"/>
                </a:solidFill>
              </a:defRPr>
            </a:pPr>
            <a:r>
              <a:t>Data Evaluation Engineer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Degradation Forensics &amp; Metrics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651760"/>
            <a:ext cx="2560320" cy="3291840"/>
          </a:xfrm>
          <a:prstGeom prst="roundRect">
            <a:avLst/>
          </a:prstGeom>
          <a:solidFill>
            <a:srgbClr val="171923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Aryan Raj</a:t>
            </a:r>
          </a:p>
          <a:p>
            <a:pPr>
              <a:defRPr sz="1200" b="1">
                <a:solidFill>
                  <a:srgbClr val="00F0FF"/>
                </a:solidFill>
              </a:defRPr>
            </a:pPr>
            <a:r>
              <a:t>Deployment &amp; Presentation Lead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Inference Pipeline &amp; Packaging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EC0"/>
                </a:solidFill>
              </a:defRPr>
            </a:pPr>
            <a:r>
              <a:t>KLA SemiCon AI Hackathon 2026 | Team AIvengers — Track 2 Submission                                                    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Arial"/>
              </a:defRPr>
            </a:pPr>
            <a:r>
              <a:t>Problem Statement Addressed</a:t>
            </a:r>
          </a:p>
          <a:p>
            <a:pPr>
              <a:defRPr sz="1300">
                <a:solidFill>
                  <a:srgbClr val="A0AEC0"/>
                </a:solidFill>
                <a:latin typeface="Arial"/>
              </a:defRPr>
            </a:pPr>
            <a:r>
              <a:t>AI-Based Restoration of Degraded Images for Semiconductor Inspection_KLA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Semiconductor Inspection &amp; Quality Control Challenge: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• Microscopic inspection images are critical for chip defect detection and yield optimization.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• Low-dose Scanning Electron Microscopy (SEM) suffers from severe coupled image degradations.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• Conventional image filters smooth out critical micro-textures, hiding real wafer defects.</a:t>
            </a:r>
          </a:p>
          <a:p>
            <a:br/>
            <a:pPr>
              <a:defRPr sz="1500" b="1">
                <a:solidFill>
                  <a:srgbClr val="00F0FF"/>
                </a:solidFill>
              </a:defRPr>
            </a:pPr>
            <a:r>
              <a:t>Three Official Degradation Categories (Joint Restoration Challenge):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• 1. Speckle Noise: Random pixel-level noise pushing intensity beyond standard signal bounds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• 2. Gaussian Noise: Reduces edge sharpness, blurring fine line/space grating structures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• 3. Resolution Reduction: Spatial downsampling (128x128 -&gt; 256x256 2x Super-Resolution)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EC0"/>
                </a:solidFill>
              </a:defRPr>
            </a:pPr>
            <a:r>
              <a:t>KLA SemiCon AI Hackathon 2026 | Team AIvengers — Track 2 Submission                                                    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Arial"/>
              </a:defRPr>
            </a:pPr>
            <a:r>
              <a:t>Idea Description: EDSR2x + L1 Loss</a:t>
            </a:r>
          </a:p>
          <a:p>
            <a:pPr>
              <a:defRPr sz="1300">
                <a:solidFill>
                  <a:srgbClr val="A0AEC0"/>
                </a:solidFill>
                <a:latin typeface="Arial"/>
              </a:defRPr>
            </a:pPr>
            <a:r>
              <a:t>Lightweight, dataset-driven single-stage residual deep learning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Model Architecture Specifications: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• Architecture: EDSR2x Residual CNN (Single-Stage)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• Residual Depth: 8 Residual Blocks (64 Feature Channels)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• Upsampling: 2x PixelShuffle Sub-Pixel Convolution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• Global Skip Connection: bicubic_2x(input) + learned_residual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• Parameters: 776,705 (~0.78M parameters)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• Training Loss: Pure L1 Reconstruction Loss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• Inference Latency: 2.95 ms / image (88.1 FPS on RTX 3050 GPU)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Why EDSR2x Was Selected (Controlled Research):</a:t>
            </a:r>
          </a:p>
          <a:p>
            <a:pPr>
              <a:defRPr sz="1300">
                <a:solidFill>
                  <a:srgbClr val="00FF66"/>
                </a:solidFill>
              </a:defRPr>
            </a:pPr>
            <a:r>
              <a:t>✔ Systematic evaluation across 6 distinct architecture candidates.</a:t>
            </a:r>
          </a:p>
          <a:p>
            <a:pPr>
              <a:defRPr sz="1300">
                <a:solidFill>
                  <a:srgbClr val="00FF66"/>
                </a:solidFill>
              </a:defRPr>
            </a:pPr>
            <a:r>
              <a:t>✔ Proved that complex window attention (SwinIR/HAT) amplified low-SNR noise.</a:t>
            </a:r>
          </a:p>
          <a:p>
            <a:pPr>
              <a:defRPr sz="1300">
                <a:solidFill>
                  <a:srgbClr val="00FF66"/>
                </a:solidFill>
              </a:defRPr>
            </a:pPr>
            <a:r>
              <a:t>✔ Proved that pre-denoising LR images lost high-frequency details.</a:t>
            </a:r>
          </a:p>
          <a:p>
            <a:pPr>
              <a:defRPr sz="1300">
                <a:solidFill>
                  <a:srgbClr val="00FF66"/>
                </a:solidFill>
              </a:defRPr>
            </a:pPr>
            <a:r>
              <a:t>✔ EDSR2x achieved the highest overall PSNR (27.42 dB) and SSIM (0.7357).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EC0"/>
                </a:solidFill>
              </a:defRPr>
            </a:pPr>
            <a:r>
              <a:t>KLA SemiCon AI Hackathon 2026 | Team AIvengers — Track 2 Submission                                                    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Arial"/>
              </a:defRPr>
            </a:pPr>
            <a:r>
              <a:t>Proposed Solution: End-to-End Pipeline</a:t>
            </a:r>
          </a:p>
          <a:p>
            <a:pPr>
              <a:defRPr sz="1300">
                <a:solidFill>
                  <a:srgbClr val="A0AEC0"/>
                </a:solidFill>
                <a:latin typeface="Arial"/>
              </a:defRPr>
            </a:pPr>
            <a:r>
              <a:t>Joint noise removal &amp; 2x super-resolution system architecture</a:t>
            </a:r>
          </a:p>
        </p:txBody>
      </p:sp>
      <p:pic>
        <p:nvPicPr>
          <p:cNvPr id="3" name="Picture 2" descr="demo_03_comparison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9441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EC0"/>
                </a:solidFill>
              </a:defRPr>
            </a:pPr>
            <a:r>
              <a:t>KLA SemiCon AI Hackathon 2026 | Team AIvengers — Track 2 Submission                                                    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Arial"/>
              </a:defRPr>
            </a:pPr>
            <a:r>
              <a:t>Innovation &amp; Uniqueness</a:t>
            </a:r>
          </a:p>
          <a:p>
            <a:pPr>
              <a:defRPr sz="1300">
                <a:solidFill>
                  <a:srgbClr val="A0AEC0"/>
                </a:solidFill>
                <a:latin typeface="Arial"/>
              </a:defRPr>
            </a:pPr>
            <a:r>
              <a:t>Dataset-driven engineering, degradation forensics, and lightweight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777240"/>
          </a:xfrm>
          <a:prstGeom prst="roundRect">
            <a:avLst/>
          </a:prstGeom>
          <a:solidFill>
            <a:srgbClr val="171923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1. Read-Only Degradation Forensics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Audited 3,200 paired images. Discovered Poisson-Gaussian shot noise (ρ = +0.3955) and direct 2x bicubic downsampling without heavy low-pass optical pre-blur.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11094415" cy="777240"/>
          </a:xfrm>
          <a:prstGeom prst="roundRect">
            <a:avLst/>
          </a:prstGeom>
          <a:solidFill>
            <a:srgbClr val="171923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2. Controlled Architecture Search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Tested EDSR2x, RCAN-Light, SwinIR-Light, HAT-Small, Wavelet-SR, and Multi-loss. Selected the simplest model with highest measured accuracy.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11094415" cy="777240"/>
          </a:xfrm>
          <a:prstGeom prst="roundRect">
            <a:avLst/>
          </a:prstGeom>
          <a:solidFill>
            <a:srgbClr val="171923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3. High-Frequency Bottleneck Identification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Identified that high-frequency noise overlap causes single-stage networks to over-smooth dense wafer contact holes, guiding optimal loss selection.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06240"/>
            <a:ext cx="11094415" cy="777240"/>
          </a:xfrm>
          <a:prstGeom prst="roundRect">
            <a:avLst/>
          </a:prstGeom>
          <a:solidFill>
            <a:srgbClr val="171923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4. Avoiding Over-Processing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Demonstrated that multi-loss (Charbonnier + SSIM + Sobel) caused gradient conflicts (-2.22 dB PSNR loss). Pure L1 reconstruction loss achieved optimal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11094415" cy="777240"/>
          </a:xfrm>
          <a:prstGeom prst="roundRect">
            <a:avLst/>
          </a:prstGeom>
          <a:solidFill>
            <a:srgbClr val="171923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5. Deployment-Oriented Optimization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0.78M parameters, 111.6 MB peak VRAM, and 2.95 ms GPU latency enable real-time inline semiconductor inspection integration.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EC0"/>
                </a:solidFill>
              </a:defRPr>
            </a:pPr>
            <a:r>
              <a:t>KLA SemiCon AI Hackathon 2026 | Team AIvengers — Track 2 Submission                                                    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Arial"/>
              </a:defRPr>
            </a:pPr>
            <a:r>
              <a:t>Experimental Results &amp; Visual Evidence</a:t>
            </a:r>
          </a:p>
          <a:p>
            <a:pPr>
              <a:defRPr sz="1300">
                <a:solidFill>
                  <a:srgbClr val="A0AEC0"/>
                </a:solidFill>
                <a:latin typeface="Arial"/>
              </a:defRPr>
            </a:pPr>
            <a:r>
              <a:t>Quantitative benchmark and visual restoration comparison</a:t>
            </a:r>
          </a:p>
        </p:txBody>
      </p:sp>
      <p:pic>
        <p:nvPicPr>
          <p:cNvPr id="3" name="Picture 2" descr="demo_07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9441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EC0"/>
                </a:solidFill>
              </a:defRPr>
            </a:pPr>
            <a:r>
              <a:t>KLA SemiCon AI Hackathon 2026 | Team AIvengers — Track 2 Submission                                                    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Arial"/>
              </a:defRPr>
            </a:pPr>
            <a:r>
              <a:t>Technology Stack &amp; Deployment Feasibility</a:t>
            </a:r>
          </a:p>
          <a:p>
            <a:pPr>
              <a:defRPr sz="1300">
                <a:solidFill>
                  <a:srgbClr val="A0AEC0"/>
                </a:solidFill>
                <a:latin typeface="Arial"/>
              </a:defRPr>
            </a:pPr>
            <a:r>
              <a:t>Hardware throughput, standalone inference script, and memory audit</a:t>
            </a:r>
          </a:p>
        </p:txBody>
      </p:sp>
      <p:pic>
        <p:nvPicPr>
          <p:cNvPr id="3" name="Picture 2" descr="demo_08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9441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EC0"/>
                </a:solidFill>
              </a:defRPr>
            </a:pPr>
            <a:r>
              <a:t>KLA SemiCon AI Hackathon 2026 | Team AIvengers — Track 2 Submission                                                    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Arial"/>
              </a:defRPr>
            </a:pPr>
            <a:r>
              <a:t>GitHub Repository &amp; Demo Video</a:t>
            </a:r>
          </a:p>
          <a:p>
            <a:pPr>
              <a:defRPr sz="1300">
                <a:solidFill>
                  <a:srgbClr val="A0AEC0"/>
                </a:solidFill>
                <a:latin typeface="Arial"/>
              </a:defRPr>
            </a:pPr>
            <a:r>
              <a:t>Open-source codebase, reproducible packaging, and presentation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Official Public GitHub Repository:</a:t>
            </a:r>
          </a:p>
          <a:p>
            <a:pPr>
              <a:defRPr sz="1600" b="1">
                <a:solidFill>
                  <a:srgbClr val="00F0FF"/>
                </a:solidFill>
              </a:defRPr>
            </a:pPr>
            <a:r>
              <a:t>https://github.com/TiyasDas-81/Semicon_Hackathon_26.git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Official Presentation Demo Video:</a:t>
            </a:r>
          </a:p>
          <a:p>
            <a:pPr>
              <a:defRPr sz="1400" b="1">
                <a:solidFill>
                  <a:srgbClr val="00FF66"/>
                </a:solidFill>
              </a:defRPr>
            </a:pPr>
            <a:r>
              <a:t>File Name: EDSR2x_demo.mp4 (Included in fresh_training/final_submission/)</a:t>
            </a:r>
          </a:p>
          <a:p>
            <a:pPr>
              <a:defRPr sz="1200">
                <a:solidFill>
                  <a:srgbClr val="A0AEC0"/>
                </a:solidFill>
              </a:defRPr>
            </a:pPr>
            <a:r>
              <a:t>Video Attributes: 83 seconds duration | 1920x1080 Full HD | 30 FPS H.264 MP4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Official Submission Entry Point:</a:t>
            </a:r>
          </a:p>
          <a:p>
            <a:pPr>
              <a:defRPr sz="1600" b="1">
                <a:solidFill>
                  <a:srgbClr val="00F0FF"/>
                </a:solidFill>
              </a:defRPr>
            </a:pPr>
            <a:r>
              <a:t>python run.py &lt;input-dir&gt; &lt;output-dir&gt;</a:t>
            </a:r>
          </a:p>
          <a:p>
            <a:pPr>
              <a:defRPr sz="1200">
                <a:solidFill>
                  <a:srgbClr val="A0AEC0"/>
                </a:solidFill>
              </a:defRPr>
            </a:pPr>
            <a:r>
              <a:t>Processes all .npy inputs and generates corresponding restored .npy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EC0"/>
                </a:solidFill>
              </a:defRPr>
            </a:pPr>
            <a:r>
              <a:t>KLA SemiCon AI Hackathon 2026 | Team AIvengers — Track 2 Submission                                                    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Arial"/>
              </a:defRPr>
            </a:pPr>
            <a:r>
              <a:t>References &amp; Academic Citations</a:t>
            </a:r>
          </a:p>
          <a:p>
            <a:pPr>
              <a:defRPr sz="1300">
                <a:solidFill>
                  <a:srgbClr val="A0AEC0"/>
                </a:solidFill>
                <a:latin typeface="Arial"/>
              </a:defRPr>
            </a:pPr>
            <a:r>
              <a:t>Authoritative literature and official competition problem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1. Lim, B., Son, S., Kim, H., Nah, S., &amp; Lee, K. M. (2017). Enhanced deep residual networks for single image super-resolution. In IEEE Conference on Computer Vision and Pattern Recognition Workshops (CVPRW), pp. 136-144.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2. Zhang, Y., Li, K., Li, K., Wang, L., Zhong, B., &amp; Fu, Y. (2018). Image super-resolution using very deep residual channel attention networks. In Proceedings of the European Conference on Computer Vision (ECCV), pp. 286-301.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3. Liang, J., Cao, J., Sun, G., Zhang, K., Van Gool, L., &amp; Timofte, R. (2021). SwinIR: Image restoration using swin transformer. In IEEE/CVF International Conference on Computer Vision Workshops (ICCVW), pp. 1833-1844.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4. Chen, X., Wang, X., Zhou, J., &amp; Dong, C. (2023). Activating more pixels in image super-resolution transformer. In IEEE/CVF Conference on Computer Vision and Pattern Recognition (CVPR), pp. 22367-22377.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5. Paszke, A., et al. (2019). PyTorch: An imperative style, high-performance deep learning library. In Advances in Neural Information Processing Systems (NeurIPS 32), pp. 8026-8037.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6. i4C &amp; KLA SemiCon India Hackathon 2026. Problem Statement PS01: AI-Based Restoration of Degraded Images for Semiconductor Inspection.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EC0"/>
                </a:solidFill>
              </a:defRPr>
            </a:pPr>
            <a:r>
              <a:t>KLA SemiCon AI Hackathon 2026 | Team AIvengers — Track 2 Submission                                                    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